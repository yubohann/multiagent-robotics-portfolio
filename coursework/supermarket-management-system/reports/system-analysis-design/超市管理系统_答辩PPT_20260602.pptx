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097280"/>
            <a:ext cx="1005840" cy="-320040"/>
          </a:xfrm>
          <a:prstGeom prst="line">
            <a:avLst/>
          </a:prstGeom>
          <a:noFill/>
          <a:ln w="15240">
            <a:solidFill>
              <a:srgbClr val="1D4ED8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77240"/>
            <a:ext cx="1097280" cy="548640"/>
          </a:xfrm>
          <a:prstGeom prst="line">
            <a:avLst/>
          </a:prstGeom>
          <a:noFill/>
          <a:ln w="15240">
            <a:solidFill>
              <a:srgbClr val="1D4ED8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325880"/>
            <a:ext cx="-1645920" cy="914400"/>
          </a:xfrm>
          <a:prstGeom prst="line">
            <a:avLst/>
          </a:prstGeom>
          <a:noFill/>
          <a:ln w="15240">
            <a:solidFill>
              <a:srgbClr val="1D4ED8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240280"/>
            <a:ext cx="1188720" cy="182880"/>
          </a:xfrm>
          <a:prstGeom prst="line">
            <a:avLst/>
          </a:prstGeom>
          <a:noFill/>
          <a:ln w="15240">
            <a:solidFill>
              <a:srgbClr val="1D4ED8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423160"/>
            <a:ext cx="-731520" cy="822960"/>
          </a:xfrm>
          <a:prstGeom prst="line">
            <a:avLst/>
          </a:prstGeom>
          <a:noFill/>
          <a:ln w="15240">
            <a:solidFill>
              <a:srgbClr val="1D4ED8">
                <a:alpha val="2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3246120"/>
            <a:ext cx="1554480" cy="228600"/>
          </a:xfrm>
          <a:prstGeom prst="line">
            <a:avLst/>
          </a:prstGeom>
          <a:noFill/>
          <a:ln w="15240">
            <a:solidFill>
              <a:srgbClr val="1D4ED8">
                <a:alpha val="2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1868" y="1046988"/>
            <a:ext cx="100584" cy="100584"/>
          </a:xfrm>
          <a:prstGeom prst="ellipse">
            <a:avLst/>
          </a:prstGeom>
          <a:solidFill>
            <a:srgbClr val="1D4ED8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07708" y="726948"/>
            <a:ext cx="100584" cy="100584"/>
          </a:xfrm>
          <a:prstGeom prst="ellipse">
            <a:avLst/>
          </a:prstGeom>
          <a:solidFill>
            <a:srgbClr val="0891B2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4988" y="1275588"/>
            <a:ext cx="100584" cy="100584"/>
          </a:xfrm>
          <a:prstGeom prst="ellipse">
            <a:avLst/>
          </a:prstGeom>
          <a:solidFill>
            <a:srgbClr val="1D4ED8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9068" y="2189988"/>
            <a:ext cx="100584" cy="100584"/>
          </a:xfrm>
          <a:prstGeom prst="ellipse">
            <a:avLst/>
          </a:prstGeom>
          <a:solidFill>
            <a:srgbClr val="0891B2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7788" y="2372868"/>
            <a:ext cx="100584" cy="100584"/>
          </a:xfrm>
          <a:prstGeom prst="ellipse">
            <a:avLst/>
          </a:prstGeom>
          <a:solidFill>
            <a:srgbClr val="1D4ED8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6268" y="3195828"/>
            <a:ext cx="100584" cy="100584"/>
          </a:xfrm>
          <a:prstGeom prst="ellipse">
            <a:avLst/>
          </a:prstGeom>
          <a:solidFill>
            <a:srgbClr val="0891B2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0748" y="3424428"/>
            <a:ext cx="100584" cy="100584"/>
          </a:xfrm>
          <a:prstGeom prst="ellipse">
            <a:avLst/>
          </a:prstGeom>
          <a:solidFill>
            <a:srgbClr val="1D4ED8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566928"/>
            <a:ext cx="8229600" cy="18288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08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软件开发与管理课程设计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897880" y="960120"/>
            <a:ext cx="2743200" cy="301752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0" descr="C:\Users\Administrator\supermarket-management-system\supermarket-management-system\reports\system-analysis-design\images\29-总体技术架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97511"/>
            <a:ext cx="2651760" cy="194273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" y="1024128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超市管理系统课程设计答辩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066544"/>
            <a:ext cx="5074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分钟汇报与演示 + 3 分钟提问验收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160520"/>
            <a:ext cx="2645664" cy="310896"/>
          </a:xfrm>
          <a:prstGeom prst="rect">
            <a:avLst/>
          </a:prstGeom>
          <a:solidFill>
            <a:srgbClr val="0891B2">
              <a:alpha val="92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24281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spc="1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3249168" y="4160520"/>
            <a:ext cx="2645664" cy="310896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40608" y="424281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spc="1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6041136" y="4160520"/>
            <a:ext cx="2645664" cy="310896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32576" y="424281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spc="1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项目概况与分工（1 分钟）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先说明项目范围、团队角色、仓库交付和当前完成度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6004"/>
            <a:ext cx="2423160" cy="242316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2013204"/>
            <a:ext cx="1947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909316"/>
            <a:ext cx="1947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模块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3457956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商品、库存、收银、财务、二期主数据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84448" y="1409700"/>
            <a:ext cx="0" cy="3057144"/>
          </a:xfrm>
          <a:prstGeom prst="line">
            <a:avLst/>
          </a:prstGeom>
          <a:noFill/>
          <a:ln w="1397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15560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57216" y="155600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图表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031492"/>
            <a:ext cx="3529584" cy="21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张主图 + 12 张模块级用例图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785616" y="2422652"/>
            <a:ext cx="4901184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25872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58724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覆盖率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5157216" y="3062732"/>
            <a:ext cx="3529584" cy="21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fail_under = 100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85616" y="3453892"/>
            <a:ext cx="4901184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36184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157216" y="361848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分钟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5157216" y="4093972"/>
            <a:ext cx="3529584" cy="21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分钟汇报演示 + 3 分钟问答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README.md; docs/course-deliverables/test-case-design.md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开场口径：这是团队协作完成的可运行系统，不是单纯文档或页面原型。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需求建模（2 分钟）：覆盖范围与代表性流程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展示用例图和业务流程，不逐张念图，重点讲覆盖范围和 2-3 个流程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33040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50" dirty="0"/>
          </a:p>
        </p:txBody>
      </p:sp>
      <p:pic>
        <p:nvPicPr>
          <p:cNvPr id="9" name="Image 0" descr="C:\Users\Administrator\supermarket-management-system\supermarket-management-system\reports\system-analysis-design\images\03-业务用例总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319" y="1528572"/>
            <a:ext cx="4837363" cy="2919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03-业务用例总图.png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讲法：总用例说明角色边界，12 张模块级用例图证明数量要求和功能覆盖。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代表性流程：销售收银闭环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从商品检索到库存校验、销售单生成、库存扣减和流水记录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33040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50" dirty="0"/>
          </a:p>
        </p:txBody>
      </p:sp>
      <p:pic>
        <p:nvPicPr>
          <p:cNvPr id="9" name="Image 0" descr="C:\Users\Administrator\supermarket-management-system\supermarket-management-system\reports\system-analysis-design\images\07-销售收银流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355" y="1528572"/>
            <a:ext cx="5727289" cy="2919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07-销售收银流程.png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讲法：销售收银是最能体现前后端联通、库存一致性和业务闭环的流程。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数据建模（2 分钟）：ER 与 ORM 实体设计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说明核心实体、关系、关键字段，以及它们如何支撑业务流程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33040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50" dirty="0"/>
          </a:p>
        </p:txBody>
      </p:sp>
      <p:pic>
        <p:nvPicPr>
          <p:cNvPr id="9" name="Image 0" descr="C:\Users\Administrator\supermarket-management-system\supermarket-management-system\reports\system-analysis-design\images\22-核心ER模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479" y="1528572"/>
            <a:ext cx="5035041" cy="2919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22-核心ER模型.png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讲法：Product、Inventory、Sale、SaleItem、Finance、Member、Supplier 等模型支撑业务。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界面设计（2 分钟）：页面与业务流程对应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展示主要界面结构，说明用户如何完成商品、库存、收银、财务和二期主数据操作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33040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50" dirty="0"/>
          </a:p>
        </p:txBody>
      </p:sp>
      <p:pic>
        <p:nvPicPr>
          <p:cNvPr id="9" name="Image 0" descr="C:\Users\Administrator\supermarket-management-system\supermarket-management-system\reports\system-analysis-design\images\05-前端信息架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0759" y="1528572"/>
            <a:ext cx="4042483" cy="2919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05-前端信息架构.png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讲法：13 个页面不是孤立模板，而是对应需求流程、角色权限和用户操作路径。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系统运行演示（4 分钟）：建议按一个闭环演示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提前登录好测试账号和演示数据，演示时少切换、多闭环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2587752"/>
        </p:xfrm>
        <a:graphic>
          <a:graphicData uri="http://schemas.openxmlformats.org/drawingml/2006/table">
            <a:tbl>
              <a:tblPr/>
              <a:tblGrid>
                <a:gridCol w="1316736"/>
                <a:gridCol w="2798064"/>
                <a:gridCol w="1481328"/>
                <a:gridCol w="26334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演示顺序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页面入口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要证明什么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备用说明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商品可维护，库存初始化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商品编码唯一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库存可查询、可预警、可追溯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库存流水留痕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/cashier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收银台能检索、结算、扣库存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库存不足会拦截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/sales + /finance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销售单可查，财务可日结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金额和明细对应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/members 或 /suppliers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二期模块已落地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不是纸面补充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517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演示建议：优先展示一个完整业务闭环，例如商品维护 -&gt; 收银结算 -&gt; 销售查询 -&gt; 财务对账。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测试与质量管理（2 分钟）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展示测试用例、单元测试、自动化测试结果、覆盖率和代码审查记录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33040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50" dirty="0"/>
          </a:p>
        </p:txBody>
      </p:sp>
      <p:pic>
        <p:nvPicPr>
          <p:cNvPr id="9" name="Image 0" descr="C:\Users\Administrator\supermarket-management-system\supermarket-management-system\reports\system-analysis-design\images\52-测试覆盖矩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007" y="1528572"/>
            <a:ext cx="5171986" cy="2919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52-测试覆盖矩阵.png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讲法：测试不仅验证正常路径，也覆盖重复编码、库存不足、越权访问等异常路径。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验收重点：四个一致性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需求与设计、设计与实现、实现与测试、个人贡献与仓库记录必须对应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33040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50" dirty="0"/>
          </a:p>
        </p:txBody>
      </p:sp>
      <p:pic>
        <p:nvPicPr>
          <p:cNvPr id="9" name="Image 0" descr="C:\Users\Administrator\supermarket-management-system\supermarket-management-system\reports\system-analysis-design\images\53-发布交付物清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850" y="1528572"/>
            <a:ext cx="5216299" cy="29199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53-发布交付物清单.png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讲法：老师检查 Gitee 时，可以沿着报告、图表、源码、测试和截图清单逐项核对。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总结与问答（2 分钟）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总结完成度、未完成问题、改进计划，并准备回答老师追问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9972"/>
            <a:ext cx="822960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完成度：系统可运行，需求、数据、界面、实现、测试和报告证据已归档。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待补证据：页面人工截图仍建议按清单补齐，增强现场验收可信度。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改进计划：多门店并发、真实支付接口、采购审批流、备份恢复和更细粒度权限。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问答准备：每个功能都能说出对应图表、页面、模型、服务和测试证据。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软件开发与管理课程设计 推荐答辩流程.xlsx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最终口径：文档、代码、测试、演示一致，个人贡献能在仓库材料中找到对应证据。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超市管理系统答辩PPT</dc:title>
  <dc:subject>系统分析与设计课程答辩</dc:subject>
  <dc:creator>PptxGenJS</dc:creator>
  <cp:lastModifiedBy>PptxGenJS</cp:lastModifiedBy>
  <cp:revision>1</cp:revision>
  <dcterms:created xsi:type="dcterms:W3CDTF">2026-06-02T09:56:48Z</dcterms:created>
  <dcterms:modified xsi:type="dcterms:W3CDTF">2026-06-02T09:56:48Z</dcterms:modified>
</cp:coreProperties>
</file>